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3600" cy="43195875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5" userDrawn="1">
          <p15:clr>
            <a:srgbClr val="A4A3A4"/>
          </p15:clr>
        </p15:guide>
        <p15:guide id="2" pos="9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9B85A-AA53-4FED-9357-11C1BF422837}" v="278" dt="2025-11-06T01:07:27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3605"/>
        <p:guide pos="907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1118" y="13418826"/>
            <a:ext cx="24481367" cy="9258374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20118" y="24478087"/>
            <a:ext cx="20163367" cy="11038099"/>
          </a:xfrm>
        </p:spPr>
        <p:txBody>
          <a:bodyPr/>
          <a:lstStyle>
            <a:lvl1pPr marL="0" indent="0" algn="ctr">
              <a:buNone/>
              <a:defRPr/>
            </a:lvl1pPr>
            <a:lvl2pPr marL="609478" indent="0" algn="ctr">
              <a:buNone/>
              <a:defRPr/>
            </a:lvl2pPr>
            <a:lvl3pPr marL="1218956" indent="0" algn="ctr">
              <a:buNone/>
              <a:defRPr/>
            </a:lvl3pPr>
            <a:lvl4pPr marL="1828434" indent="0" algn="ctr">
              <a:buNone/>
              <a:defRPr/>
            </a:lvl4pPr>
            <a:lvl5pPr marL="2437912" indent="0" algn="ctr">
              <a:buNone/>
              <a:defRPr/>
            </a:lvl5pPr>
            <a:lvl6pPr marL="3047390" indent="0" algn="ctr">
              <a:buNone/>
              <a:defRPr/>
            </a:lvl6pPr>
            <a:lvl7pPr marL="3656868" indent="0" algn="ctr">
              <a:buNone/>
              <a:defRPr/>
            </a:lvl7pPr>
            <a:lvl8pPr marL="4266346" indent="0" algn="ctr">
              <a:buNone/>
              <a:defRPr/>
            </a:lvl8pPr>
            <a:lvl9pPr marL="4875824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417" y="27758198"/>
            <a:ext cx="24483483" cy="8579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417" y="18307249"/>
            <a:ext cx="24483483" cy="9450949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478" indent="0">
              <a:buNone/>
              <a:defRPr sz="2400"/>
            </a:lvl2pPr>
            <a:lvl3pPr marL="1218956" indent="0">
              <a:buNone/>
              <a:defRPr sz="2133"/>
            </a:lvl3pPr>
            <a:lvl4pPr marL="1828434" indent="0">
              <a:buNone/>
              <a:defRPr sz="1866"/>
            </a:lvl4pPr>
            <a:lvl5pPr marL="2437912" indent="0">
              <a:buNone/>
              <a:defRPr sz="1866"/>
            </a:lvl5pPr>
            <a:lvl6pPr marL="3047390" indent="0">
              <a:buNone/>
              <a:defRPr sz="1866"/>
            </a:lvl6pPr>
            <a:lvl7pPr marL="3656868" indent="0">
              <a:buNone/>
              <a:defRPr sz="1866"/>
            </a:lvl7pPr>
            <a:lvl8pPr marL="4266346" indent="0">
              <a:buNone/>
              <a:defRPr sz="1866"/>
            </a:lvl8pPr>
            <a:lvl9pPr marL="4875824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334" y="10079462"/>
            <a:ext cx="12860867" cy="2850733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3400" y="10079462"/>
            <a:ext cx="12860867" cy="2850733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334" y="9668919"/>
            <a:ext cx="12727517" cy="402924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78" indent="0">
              <a:buNone/>
              <a:defRPr sz="2666" b="1"/>
            </a:lvl2pPr>
            <a:lvl3pPr marL="1218956" indent="0">
              <a:buNone/>
              <a:defRPr sz="2400" b="1"/>
            </a:lvl3pPr>
            <a:lvl4pPr marL="1828434" indent="0">
              <a:buNone/>
              <a:defRPr sz="2133" b="1"/>
            </a:lvl4pPr>
            <a:lvl5pPr marL="2437912" indent="0">
              <a:buNone/>
              <a:defRPr sz="2133" b="1"/>
            </a:lvl5pPr>
            <a:lvl6pPr marL="3047390" indent="0">
              <a:buNone/>
              <a:defRPr sz="2133" b="1"/>
            </a:lvl6pPr>
            <a:lvl7pPr marL="3656868" indent="0">
              <a:buNone/>
              <a:defRPr sz="2133" b="1"/>
            </a:lvl7pPr>
            <a:lvl8pPr marL="4266346" indent="0">
              <a:buNone/>
              <a:defRPr sz="2133" b="1"/>
            </a:lvl8pPr>
            <a:lvl9pPr marL="4875824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334" y="13698164"/>
            <a:ext cx="12727517" cy="24888628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2517" y="9668919"/>
            <a:ext cx="12731749" cy="402924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78" indent="0">
              <a:buNone/>
              <a:defRPr sz="2666" b="1"/>
            </a:lvl2pPr>
            <a:lvl3pPr marL="1218956" indent="0">
              <a:buNone/>
              <a:defRPr sz="2400" b="1"/>
            </a:lvl3pPr>
            <a:lvl4pPr marL="1828434" indent="0">
              <a:buNone/>
              <a:defRPr sz="2133" b="1"/>
            </a:lvl4pPr>
            <a:lvl5pPr marL="2437912" indent="0">
              <a:buNone/>
              <a:defRPr sz="2133" b="1"/>
            </a:lvl5pPr>
            <a:lvl6pPr marL="3047390" indent="0">
              <a:buNone/>
              <a:defRPr sz="2133" b="1"/>
            </a:lvl6pPr>
            <a:lvl7pPr marL="3656868" indent="0">
              <a:buNone/>
              <a:defRPr sz="2133" b="1"/>
            </a:lvl7pPr>
            <a:lvl8pPr marL="4266346" indent="0">
              <a:buNone/>
              <a:defRPr sz="2133" b="1"/>
            </a:lvl8pPr>
            <a:lvl9pPr marL="4875824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2517" y="13698164"/>
            <a:ext cx="12731749" cy="24888628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334" y="1720472"/>
            <a:ext cx="9476318" cy="7317820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60667" y="1720473"/>
            <a:ext cx="16103600" cy="36866320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334" y="9038291"/>
            <a:ext cx="9476318" cy="29548501"/>
          </a:xfrm>
        </p:spPr>
        <p:txBody>
          <a:bodyPr/>
          <a:lstStyle>
            <a:lvl1pPr marL="0" indent="0">
              <a:buNone/>
              <a:defRPr sz="1866"/>
            </a:lvl1pPr>
            <a:lvl2pPr marL="609478" indent="0">
              <a:buNone/>
              <a:defRPr sz="1600"/>
            </a:lvl2pPr>
            <a:lvl3pPr marL="1218956" indent="0">
              <a:buNone/>
              <a:defRPr sz="1333"/>
            </a:lvl3pPr>
            <a:lvl4pPr marL="1828434" indent="0">
              <a:buNone/>
              <a:defRPr sz="1200"/>
            </a:lvl4pPr>
            <a:lvl5pPr marL="2437912" indent="0">
              <a:buNone/>
              <a:defRPr sz="1200"/>
            </a:lvl5pPr>
            <a:lvl6pPr marL="3047390" indent="0">
              <a:buNone/>
              <a:defRPr sz="1200"/>
            </a:lvl6pPr>
            <a:lvl7pPr marL="3656868" indent="0">
              <a:buNone/>
              <a:defRPr sz="1200"/>
            </a:lvl7pPr>
            <a:lvl8pPr marL="4266346" indent="0">
              <a:buNone/>
              <a:defRPr sz="1200"/>
            </a:lvl8pPr>
            <a:lvl9pPr marL="4875824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5151" y="30236267"/>
            <a:ext cx="17282583" cy="3570030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5151" y="3859950"/>
            <a:ext cx="17282583" cy="25917102"/>
          </a:xfrm>
        </p:spPr>
        <p:txBody>
          <a:bodyPr/>
          <a:lstStyle>
            <a:lvl1pPr marL="0" indent="0">
              <a:buNone/>
              <a:defRPr sz="4266"/>
            </a:lvl1pPr>
            <a:lvl2pPr marL="609478" indent="0">
              <a:buNone/>
              <a:defRPr sz="3733"/>
            </a:lvl2pPr>
            <a:lvl3pPr marL="1218956" indent="0">
              <a:buNone/>
              <a:defRPr sz="3200"/>
            </a:lvl3pPr>
            <a:lvl4pPr marL="1828434" indent="0">
              <a:buNone/>
              <a:defRPr sz="2666"/>
            </a:lvl4pPr>
            <a:lvl5pPr marL="2437912" indent="0">
              <a:buNone/>
              <a:defRPr sz="2666"/>
            </a:lvl5pPr>
            <a:lvl6pPr marL="3047390" indent="0">
              <a:buNone/>
              <a:defRPr sz="2666"/>
            </a:lvl6pPr>
            <a:lvl7pPr marL="3656868" indent="0">
              <a:buNone/>
              <a:defRPr sz="2666"/>
            </a:lvl7pPr>
            <a:lvl8pPr marL="4266346" indent="0">
              <a:buNone/>
              <a:defRPr sz="2666"/>
            </a:lvl8pPr>
            <a:lvl9pPr marL="4875824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5151" y="33806296"/>
            <a:ext cx="17282583" cy="5070415"/>
          </a:xfrm>
        </p:spPr>
        <p:txBody>
          <a:bodyPr/>
          <a:lstStyle>
            <a:lvl1pPr marL="0" indent="0">
              <a:buNone/>
              <a:defRPr sz="1866"/>
            </a:lvl1pPr>
            <a:lvl2pPr marL="609478" indent="0">
              <a:buNone/>
              <a:defRPr sz="1600"/>
            </a:lvl2pPr>
            <a:lvl3pPr marL="1218956" indent="0">
              <a:buNone/>
              <a:defRPr sz="1333"/>
            </a:lvl3pPr>
            <a:lvl4pPr marL="1828434" indent="0">
              <a:buNone/>
              <a:defRPr sz="1200"/>
            </a:lvl4pPr>
            <a:lvl5pPr marL="2437912" indent="0">
              <a:buNone/>
              <a:defRPr sz="1200"/>
            </a:lvl5pPr>
            <a:lvl6pPr marL="3047390" indent="0">
              <a:buNone/>
              <a:defRPr sz="1200"/>
            </a:lvl6pPr>
            <a:lvl7pPr marL="3656868" indent="0">
              <a:buNone/>
              <a:defRPr sz="1200"/>
            </a:lvl7pPr>
            <a:lvl8pPr marL="4266346" indent="0">
              <a:buNone/>
              <a:defRPr sz="1200"/>
            </a:lvl8pPr>
            <a:lvl9pPr marL="4875824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3035" y="1728938"/>
            <a:ext cx="6481233" cy="3685785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334" y="1728938"/>
            <a:ext cx="19240500" cy="3685785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334" y="1728937"/>
            <a:ext cx="25924934" cy="719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334" y="10079462"/>
            <a:ext cx="25924934" cy="28507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334" y="39335927"/>
            <a:ext cx="6722533" cy="3000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5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40385" y="39335927"/>
            <a:ext cx="9122834" cy="3000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5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41733" y="39335927"/>
            <a:ext cx="6722533" cy="3000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5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" t="-33" r="-3317" b="-301"/>
          <a:stretch>
            <a:fillRect/>
          </a:stretch>
        </p:blipFill>
        <p:spPr>
          <a:xfrm>
            <a:off x="-690" y="-365694"/>
            <a:ext cx="29682279" cy="435609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3554" y="2703385"/>
            <a:ext cx="28797250" cy="6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ctr">
            <a:spAutoFit/>
          </a:bodyPr>
          <a:lstStyle/>
          <a:p>
            <a:pPr algn="ctr"/>
            <a:r>
              <a:rPr lang="pt-BR" sz="3700" b="1">
                <a:latin typeface="Arial"/>
                <a:ea typeface="ＭＳ Ｐゴシック"/>
                <a:cs typeface="Arial"/>
              </a:rPr>
              <a:t>André </a:t>
            </a:r>
            <a:r>
              <a:rPr lang="pt-BR" sz="3700" b="1" err="1">
                <a:latin typeface="Arial"/>
                <a:ea typeface="ＭＳ Ｐゴシック"/>
                <a:cs typeface="Arial"/>
              </a:rPr>
              <a:t>Luis</a:t>
            </a:r>
            <a:r>
              <a:rPr lang="pt-BR" sz="3700" b="1">
                <a:latin typeface="Arial"/>
                <a:ea typeface="ＭＳ Ｐゴシック"/>
                <a:cs typeface="Arial"/>
              </a:rPr>
              <a:t>; </a:t>
            </a:r>
            <a:r>
              <a:rPr lang="pt-BR" sz="3700" b="1">
                <a:latin typeface="Arial"/>
                <a:ea typeface="ＭＳ Ｐゴシック"/>
                <a:cs typeface="Times New Roman"/>
              </a:rPr>
              <a:t>Enzo Minardi; João Guilherme; Samuel Cavalcanti</a:t>
            </a:r>
            <a:endParaRPr lang="pt-BR" sz="3700" b="1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3622" y="4991753"/>
            <a:ext cx="13283386" cy="527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>
            <a:spAutoFit/>
          </a:bodyPr>
          <a:lstStyle/>
          <a:p>
            <a:pPr algn="just" defTabSz="1678181" eaLnBrk="1" hangingPunct="1"/>
            <a:r>
              <a:rPr lang="pt-BR" sz="3600" b="1">
                <a:ea typeface="ＭＳ Ｐゴシック" pitchFamily="34" charset="-128"/>
              </a:rPr>
              <a:t>Sobre a equipe</a:t>
            </a:r>
          </a:p>
          <a:p>
            <a:pPr algn="just" defTabSz="1678181" eaLnBrk="1" hangingPunct="1"/>
            <a:r>
              <a:rPr lang="pt-BR" sz="3700">
                <a:latin typeface="Arial"/>
                <a:cs typeface="Arial"/>
              </a:rPr>
              <a:t> </a:t>
            </a:r>
            <a:r>
              <a:rPr lang="pt-BR" sz="2400">
                <a:latin typeface="Arial"/>
                <a:cs typeface="Arial"/>
              </a:rPr>
              <a:t>Nossa equipe é formada por estudantes do curso de Análise e Desenvolvimento de Sistemas, unidos pelo propósito de aplicar nossos conhecimentos técnicos em um projeto com impacto social real. Cada integrante contribui com suas habilidades específicas, formando um grupo colaborativo e comprometido com a qualidade e a inovação.</a:t>
            </a:r>
            <a:endParaRPr lang="pt-BR" sz="2400">
              <a:cs typeface="Arial"/>
            </a:endParaRPr>
          </a:p>
          <a:p>
            <a:pPr algn="just" defTabSz="1678181"/>
            <a:r>
              <a:rPr lang="pt-BR" sz="2400">
                <a:latin typeface="Arial"/>
                <a:cs typeface="Arial"/>
              </a:rPr>
              <a:t>Trabalhamos de forma integrada, aplicando metodologias ágeis e boas práticas de desenvolvimento para garantir eficiência e organização em todas as etapas do projeto — desde o planejamento e o design da interface até a implementação do front-</a:t>
            </a:r>
            <a:r>
              <a:rPr lang="pt-BR" sz="2400" err="1">
                <a:latin typeface="Arial"/>
                <a:cs typeface="Arial"/>
              </a:rPr>
              <a:t>end</a:t>
            </a:r>
            <a:r>
              <a:rPr lang="pt-BR" sz="2400">
                <a:latin typeface="Arial"/>
                <a:cs typeface="Arial"/>
              </a:rPr>
              <a:t> e </a:t>
            </a:r>
            <a:r>
              <a:rPr lang="pt-BR" sz="2400" err="1">
                <a:latin typeface="Arial"/>
                <a:cs typeface="Arial"/>
              </a:rPr>
              <a:t>back</a:t>
            </a:r>
            <a:r>
              <a:rPr lang="pt-BR" sz="2400">
                <a:latin typeface="Arial"/>
                <a:cs typeface="Arial"/>
              </a:rPr>
              <a:t>-end.</a:t>
            </a:r>
            <a:endParaRPr lang="pt-BR" sz="2400">
              <a:cs typeface="Arial"/>
            </a:endParaRPr>
          </a:p>
          <a:p>
            <a:pPr algn="just" defTabSz="1678181"/>
            <a:r>
              <a:rPr lang="pt-BR" sz="2400">
                <a:latin typeface="Arial"/>
                <a:cs typeface="Arial"/>
              </a:rPr>
              <a:t>Mais do que cumprir um desafio acadêmico, buscamos criar uma solução funcional, acessível e significativa, que fortaleça a presença digital do Instituto Alma e amplie o alcance de suas ações sociais. Acreditamos que a tecnologia pode ser um instrumento de transformação e estamos empenhados em utilizar nosso aprendizado para fazer a diferença.</a:t>
            </a:r>
            <a:endParaRPr lang="pt-BR" sz="2400">
              <a:cs typeface="Arial"/>
            </a:endParaRPr>
          </a:p>
          <a:p>
            <a:pPr algn="just" defTabSz="1678181">
              <a:spcAft>
                <a:spcPts val="1200"/>
              </a:spcAft>
            </a:pPr>
            <a:endParaRPr lang="pt-BR" sz="2400">
              <a:cs typeface="Arial"/>
            </a:endParaRPr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3176" y="-669277"/>
            <a:ext cx="184711" cy="133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8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6412" y="1090918"/>
            <a:ext cx="27921237" cy="2258110"/>
          </a:xfrm>
        </p:spPr>
        <p:txBody>
          <a:bodyPr/>
          <a:lstStyle/>
          <a:p>
            <a:pPr eaLnBrk="1" hangingPunct="1"/>
            <a:r>
              <a:rPr lang="pt-BR" sz="5849" b="1" err="1"/>
              <a:t>AlmaTech</a:t>
            </a:r>
            <a:endParaRPr lang="pt-BR" sz="5865" b="1" err="1"/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3888" y="288268"/>
            <a:ext cx="25807059" cy="1618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390" tIns="205694" rIns="411390" bIns="205694" anchor="ctr"/>
          <a:lstStyle/>
          <a:p>
            <a:pPr algn="ctr" eaLnBrk="1" hangingPunct="1"/>
            <a:r>
              <a:rPr lang="pt-BR" sz="7949" b="1">
                <a:solidFill>
                  <a:schemeClr val="bg1"/>
                </a:solidFill>
                <a:latin typeface="Arial"/>
                <a:cs typeface="Arial"/>
              </a:rPr>
              <a:t>Semana de Tecnologia FECAP 2025</a:t>
            </a:r>
            <a:endParaRPr lang="pt-BR" sz="7998" b="1">
              <a:solidFill>
                <a:schemeClr val="bg1"/>
              </a:solidFill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4715" y="4991754"/>
            <a:ext cx="13283386" cy="455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>
            <a:spAutoFit/>
          </a:bodyPr>
          <a:lstStyle/>
          <a:p>
            <a:pPr algn="just" defTabSz="1678181" eaLnBrk="1" hangingPunct="1"/>
            <a:r>
              <a:rPr lang="pt-BR" sz="3600" b="1">
                <a:latin typeface="Arial"/>
                <a:ea typeface="ＭＳ Ｐゴシック"/>
                <a:cs typeface="Arial"/>
              </a:rPr>
              <a:t>Problema a ser tratado</a:t>
            </a:r>
            <a:endParaRPr lang="pt-BR" sz="3600" b="1">
              <a:ea typeface="ＭＳ Ｐゴシック" pitchFamily="34" charset="-128"/>
              <a:cs typeface="Arial"/>
            </a:endParaRPr>
          </a:p>
          <a:p>
            <a:pPr algn="just" defTabSz="1678181" eaLnBrk="1" hangingPunct="1">
              <a:spcAft>
                <a:spcPts val="1200"/>
              </a:spcAft>
            </a:pPr>
            <a:r>
              <a:rPr lang="pt-BR" sz="2400">
                <a:latin typeface="Arial"/>
                <a:cs typeface="Arial"/>
              </a:rPr>
              <a:t> </a:t>
            </a:r>
            <a:br>
              <a:rPr lang="pt-BR" sz="2400">
                <a:latin typeface="Arial"/>
                <a:cs typeface="Arial"/>
              </a:rPr>
            </a:br>
            <a:r>
              <a:rPr lang="pt-BR" sz="2400">
                <a:latin typeface="Arial"/>
                <a:cs typeface="Arial"/>
              </a:rPr>
              <a:t> O Instituto Alma, uma organização voltada a causas sociais e ao desenvolvimento humano, necessita de uma presença digital mais eficiente. Atualmente, suas informações, atividades e formas de colaboração estão dispersas, dificultando o engajamento de doadores, voluntários e do público em geral. A ausência de um site institucional limita a transparência, o acesso às ações do instituto e as possibilidades de arrecadação online.</a:t>
            </a:r>
            <a:endParaRPr lang="pt-BR" sz="2400">
              <a:cs typeface="Arial"/>
            </a:endParaRPr>
          </a:p>
          <a:p>
            <a:pPr algn="just" defTabSz="1678181" eaLnBrk="1" hangingPunct="1">
              <a:spcAft>
                <a:spcPts val="1200"/>
              </a:spcAft>
            </a:pPr>
            <a:endParaRPr lang="pt-BR" sz="2666"/>
          </a:p>
          <a:p>
            <a:pPr algn="just" defTabSz="1678181" eaLnBrk="1" hangingPunct="1">
              <a:spcAft>
                <a:spcPts val="1200"/>
              </a:spcAft>
            </a:pPr>
            <a:endParaRPr lang="pt-BR" sz="2666"/>
          </a:p>
          <a:p>
            <a:pPr algn="just" defTabSz="1678181" eaLnBrk="1" hangingPunct="1">
              <a:spcAft>
                <a:spcPts val="1200"/>
              </a:spcAft>
            </a:pPr>
            <a:r>
              <a:rPr lang="pt-BR" sz="2666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59" y="33539720"/>
            <a:ext cx="13317442" cy="629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>
            <a:spAutoFit/>
          </a:bodyPr>
          <a:lstStyle/>
          <a:p>
            <a:pPr algn="just" defTabSz="1678181" eaLnBrk="1" hangingPunct="1"/>
            <a:r>
              <a:rPr lang="pt-BR" sz="3600" b="1">
                <a:ea typeface="ＭＳ Ｐゴシック" pitchFamily="34" charset="-128"/>
              </a:rPr>
              <a:t>Solução proposta</a:t>
            </a:r>
          </a:p>
          <a:p>
            <a:pPr defTabSz="1678181" eaLnBrk="1" hangingPunct="1"/>
            <a:r>
              <a:rPr lang="pt-BR" sz="3700">
                <a:latin typeface="Arial"/>
                <a:cs typeface="Arial"/>
              </a:rPr>
              <a:t> </a:t>
            </a:r>
            <a:r>
              <a:rPr lang="pt-BR" sz="2650">
                <a:latin typeface="Arial"/>
                <a:cs typeface="Arial"/>
              </a:rPr>
              <a:t>	</a:t>
            </a:r>
            <a:r>
              <a:rPr lang="pt-BR" sz="2400">
                <a:latin typeface="Arial"/>
                <a:cs typeface="Arial"/>
              </a:rPr>
              <a:t>  O projeto propõe o desenvolvimento de um site institucional completo, criativo, funcional e responsivo, utilizando tecnologias Full Stack (</a:t>
            </a:r>
            <a:r>
              <a:rPr lang="pt-BR" sz="2400" err="1">
                <a:latin typeface="Arial"/>
                <a:cs typeface="Arial"/>
              </a:rPr>
              <a:t>React</a:t>
            </a:r>
            <a:r>
              <a:rPr lang="pt-BR" sz="2400">
                <a:latin typeface="Arial"/>
                <a:cs typeface="Arial"/>
              </a:rPr>
              <a:t> no front-</a:t>
            </a:r>
            <a:r>
              <a:rPr lang="pt-BR" sz="2400" err="1">
                <a:latin typeface="Arial"/>
                <a:cs typeface="Arial"/>
              </a:rPr>
              <a:t>end</a:t>
            </a:r>
            <a:r>
              <a:rPr lang="pt-BR" sz="2400">
                <a:latin typeface="Arial"/>
                <a:cs typeface="Arial"/>
              </a:rPr>
              <a:t> e Node.js/Express com MySQL no </a:t>
            </a:r>
            <a:r>
              <a:rPr lang="pt-BR" sz="2400" err="1">
                <a:latin typeface="Arial"/>
                <a:cs typeface="Arial"/>
              </a:rPr>
              <a:t>back-end</a:t>
            </a:r>
            <a:r>
              <a:rPr lang="pt-BR" sz="2400">
                <a:latin typeface="Arial"/>
                <a:cs typeface="Arial"/>
              </a:rPr>
              <a:t>).</a:t>
            </a:r>
            <a:br>
              <a:rPr lang="pt-BR" sz="2400">
                <a:latin typeface="Arial"/>
                <a:cs typeface="Arial"/>
              </a:rPr>
            </a:br>
            <a:r>
              <a:rPr lang="pt-BR" sz="2400">
                <a:latin typeface="Arial"/>
                <a:cs typeface="Arial"/>
              </a:rPr>
              <a:t> O site reunirá:</a:t>
            </a:r>
            <a:endParaRPr lang="pt-BR" sz="2650">
              <a:cs typeface="Arial" charset="0"/>
            </a:endParaRPr>
          </a:p>
          <a:p>
            <a:pPr marL="285721" indent="-285721" defTabSz="1678181">
              <a:buFont typeface="Arial"/>
              <a:buChar char="•"/>
            </a:pPr>
            <a:r>
              <a:rPr lang="pt-BR" sz="2400">
                <a:latin typeface="Arial"/>
                <a:cs typeface="Arial"/>
              </a:rPr>
              <a:t>Páginas institucionais sobre a história e os valores do Instituto Alma;</a:t>
            </a:r>
            <a:endParaRPr lang="pt-BR" sz="8099">
              <a:cs typeface="Arial" charset="0"/>
            </a:endParaRPr>
          </a:p>
          <a:p>
            <a:pPr marL="285721" indent="-285721" defTabSz="1678181">
              <a:buFont typeface="Arial"/>
              <a:buChar char="•"/>
            </a:pPr>
            <a:r>
              <a:rPr lang="pt-BR" sz="2400">
                <a:latin typeface="Arial"/>
                <a:cs typeface="Arial"/>
              </a:rPr>
              <a:t>Portal de doações online com integração a APIs de pagamento (</a:t>
            </a:r>
            <a:r>
              <a:rPr lang="pt-BR" sz="2400" err="1">
                <a:latin typeface="Arial"/>
                <a:cs typeface="Arial"/>
              </a:rPr>
              <a:t>ex</a:t>
            </a:r>
            <a:r>
              <a:rPr lang="pt-BR" sz="2400">
                <a:latin typeface="Arial"/>
                <a:cs typeface="Arial"/>
              </a:rPr>
              <a:t>: Mercado Pago);</a:t>
            </a:r>
            <a:endParaRPr lang="pt-BR" sz="8099">
              <a:cs typeface="Arial" charset="0"/>
            </a:endParaRPr>
          </a:p>
          <a:p>
            <a:pPr marL="285721" indent="-285721" defTabSz="1678181">
              <a:buFont typeface="Arial"/>
              <a:buChar char="•"/>
            </a:pPr>
            <a:r>
              <a:rPr lang="pt-BR" sz="2400">
                <a:latin typeface="Arial"/>
                <a:cs typeface="Arial"/>
              </a:rPr>
              <a:t>Área de transparência com relatórios e documentos públicos;</a:t>
            </a:r>
            <a:endParaRPr lang="pt-BR" sz="8099">
              <a:cs typeface="Arial" charset="0"/>
            </a:endParaRPr>
          </a:p>
          <a:p>
            <a:pPr marL="285721" indent="-285721" defTabSz="1678181">
              <a:buFont typeface="Arial"/>
              <a:buChar char="•"/>
            </a:pPr>
            <a:r>
              <a:rPr lang="pt-BR" sz="2400">
                <a:latin typeface="Arial"/>
                <a:cs typeface="Arial"/>
              </a:rPr>
              <a:t>Ouvidoria digital com envio de mensagens por e-mail;</a:t>
            </a:r>
            <a:endParaRPr lang="pt-BR" sz="8099">
              <a:cs typeface="Arial" charset="0"/>
            </a:endParaRPr>
          </a:p>
          <a:p>
            <a:pPr marL="285721" indent="-285721" defTabSz="1678181">
              <a:buFont typeface="Arial"/>
              <a:buChar char="•"/>
            </a:pPr>
            <a:r>
              <a:rPr lang="pt-BR" sz="2400">
                <a:latin typeface="Arial"/>
                <a:cs typeface="Arial"/>
              </a:rPr>
              <a:t>Seção de eventos e atividades com integração às redes sociais;</a:t>
            </a:r>
            <a:endParaRPr lang="pt-BR" sz="8099">
              <a:cs typeface="Arial" charset="0"/>
            </a:endParaRPr>
          </a:p>
          <a:p>
            <a:pPr marL="285721" indent="-285721" defTabSz="1678181">
              <a:buFont typeface="Arial"/>
              <a:buChar char="•"/>
            </a:pPr>
            <a:r>
              <a:rPr lang="pt-BR" sz="2400">
                <a:latin typeface="Arial"/>
                <a:cs typeface="Arial"/>
              </a:rPr>
              <a:t>Área administrativa protegida por login, permitindo a atualização de conteúdos e acompanhamento das doações.</a:t>
            </a:r>
            <a:br>
              <a:rPr lang="pt-BR" sz="2400">
                <a:latin typeface="Arial"/>
                <a:cs typeface="Arial"/>
              </a:rPr>
            </a:br>
            <a:endParaRPr lang="pt-BR" sz="1800">
              <a:cs typeface="Arial" charset="0"/>
            </a:endParaRPr>
          </a:p>
          <a:p>
            <a:pPr defTabSz="1678181"/>
            <a:r>
              <a:rPr lang="pt-BR" sz="2400">
                <a:latin typeface="Arial"/>
                <a:cs typeface="Arial"/>
              </a:rPr>
              <a:t>Essa solução busca fortalecer a credibilidade, ampliar a visibilidade social e melhorar a comunicação entre o Instituto e seus apoiadores.</a:t>
            </a:r>
            <a:endParaRPr lang="pt-BR" sz="8099">
              <a:cs typeface="Arial" charset="0"/>
            </a:endParaRPr>
          </a:p>
          <a:p>
            <a:pPr algn="just" defTabSz="1678181">
              <a:spcAft>
                <a:spcPts val="1200"/>
              </a:spcAft>
            </a:pPr>
            <a:endParaRPr lang="pt-BR" sz="2400">
              <a:cs typeface="Arial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4" y="3056410"/>
            <a:ext cx="29589352" cy="135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390" tIns="205694" rIns="411390" bIns="205694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50" b="1" kern="0" dirty="0"/>
              <a:t>Professores:  Victor Rosetti; José  </a:t>
            </a:r>
            <a:r>
              <a:rPr lang="pt-BR" sz="2650" b="1" kern="0" dirty="0" err="1"/>
              <a:t>Buesso</a:t>
            </a:r>
            <a:r>
              <a:rPr lang="pt-BR" sz="2650" b="1" kern="0" dirty="0"/>
              <a:t>; Francisco Escobar; Eduardo </a:t>
            </a:r>
            <a:r>
              <a:rPr lang="pt-BR" sz="2650" b="1" kern="0" dirty="0" err="1"/>
              <a:t>Savino</a:t>
            </a:r>
            <a:r>
              <a:rPr lang="pt-BR" sz="2650" b="1" kern="0" dirty="0"/>
              <a:t>; Ronaldo Araujo </a:t>
            </a:r>
            <a:endParaRPr lang="pt-BR" sz="5865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8345" y="33539720"/>
            <a:ext cx="13317442" cy="5701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>
            <a:spAutoFit/>
          </a:bodyPr>
          <a:lstStyle/>
          <a:p>
            <a:pPr algn="just" defTabSz="1678181" eaLnBrk="1" hangingPunct="1"/>
            <a:r>
              <a:rPr lang="pt-BR" sz="3600" b="1" dirty="0">
                <a:latin typeface="Arial"/>
                <a:ea typeface="ＭＳ Ｐゴシック"/>
                <a:cs typeface="Arial"/>
              </a:rPr>
              <a:t>Futuro do projeto</a:t>
            </a:r>
          </a:p>
          <a:p>
            <a:pPr algn="just" defTabSz="1678181" eaLnBrk="1" hangingPunct="1"/>
            <a:r>
              <a:rPr lang="pt-BR" sz="3700" dirty="0">
                <a:latin typeface="Arial"/>
                <a:cs typeface="Arial"/>
              </a:rPr>
              <a:t> </a:t>
            </a:r>
            <a:r>
              <a:rPr lang="pt-BR" sz="2650" dirty="0">
                <a:latin typeface="Arial"/>
                <a:cs typeface="Arial"/>
              </a:rPr>
              <a:t>	  Após a entrega das versões funcionais e o </a:t>
            </a:r>
            <a:r>
              <a:rPr lang="pt-BR" sz="2650" dirty="0" err="1">
                <a:latin typeface="Arial"/>
                <a:cs typeface="Arial"/>
              </a:rPr>
              <a:t>deploy</a:t>
            </a:r>
            <a:r>
              <a:rPr lang="pt-BR" sz="2650" dirty="0">
                <a:latin typeface="Arial"/>
                <a:cs typeface="Arial"/>
              </a:rPr>
              <a:t> do sistema, o projeto poderá ser expandido com:</a:t>
            </a:r>
            <a:endParaRPr lang="pt-BR" sz="2650" dirty="0">
              <a:cs typeface="Arial"/>
            </a:endParaRPr>
          </a:p>
          <a:p>
            <a:pPr marL="285115" indent="-285115" algn="just" defTabSz="1678181">
              <a:buFont typeface="Arial"/>
              <a:buChar char="•"/>
            </a:pPr>
            <a:r>
              <a:rPr lang="pt-BR" sz="2650" dirty="0">
                <a:latin typeface="Arial"/>
                <a:cs typeface="Arial"/>
              </a:rPr>
              <a:t>Área de voluntariado com cadastro e acompanhamento de participantes;</a:t>
            </a:r>
            <a:endParaRPr lang="pt-BR" sz="8099" dirty="0">
              <a:cs typeface="Arial"/>
            </a:endParaRPr>
          </a:p>
          <a:p>
            <a:pPr marL="285115" indent="-285115" algn="just" defTabSz="1678181">
              <a:buFont typeface="Arial"/>
              <a:buChar char="•"/>
            </a:pPr>
            <a:r>
              <a:rPr lang="pt-BR" sz="2650" dirty="0">
                <a:latin typeface="Arial"/>
                <a:cs typeface="Arial"/>
              </a:rPr>
              <a:t>Blog para divulgar notícias e conquistas;</a:t>
            </a:r>
            <a:endParaRPr lang="pt-BR" sz="2650" dirty="0">
              <a:cs typeface="Arial"/>
            </a:endParaRPr>
          </a:p>
          <a:p>
            <a:pPr marL="285115" indent="-285115" algn="just" defTabSz="1678181">
              <a:buFont typeface="Arial"/>
              <a:buChar char="•"/>
            </a:pPr>
            <a:r>
              <a:rPr lang="pt-BR" sz="2650" dirty="0">
                <a:latin typeface="Arial"/>
                <a:cs typeface="Arial"/>
              </a:rPr>
              <a:t>Área para usuários darem </a:t>
            </a:r>
            <a:r>
              <a:rPr lang="pt-BR" sz="2650" dirty="0" err="1">
                <a:latin typeface="Arial"/>
                <a:cs typeface="Arial"/>
              </a:rPr>
              <a:t>feedbaks</a:t>
            </a:r>
            <a:r>
              <a:rPr lang="pt-BR" sz="2650" dirty="0">
                <a:latin typeface="Arial"/>
                <a:cs typeface="Arial"/>
              </a:rPr>
              <a:t>;</a:t>
            </a:r>
            <a:endParaRPr lang="pt-BR" sz="2650" dirty="0">
              <a:cs typeface="Arial"/>
            </a:endParaRPr>
          </a:p>
          <a:p>
            <a:pPr marL="285115" indent="-285115" algn="just" defTabSz="1678181">
              <a:buFont typeface="Arial"/>
              <a:buChar char="•"/>
            </a:pPr>
            <a:r>
              <a:rPr lang="pt-BR" sz="2650" dirty="0">
                <a:latin typeface="Arial"/>
                <a:cs typeface="Arial"/>
              </a:rPr>
              <a:t>Histórico de contribuições para doadores;</a:t>
            </a:r>
            <a:endParaRPr lang="pt-BR" sz="8099" dirty="0">
              <a:cs typeface="Arial"/>
            </a:endParaRPr>
          </a:p>
          <a:p>
            <a:pPr marL="285115" indent="-285115" algn="just" defTabSz="1678181">
              <a:buFont typeface="Arial"/>
              <a:buChar char="•"/>
            </a:pPr>
            <a:r>
              <a:rPr lang="pt-BR" sz="2650" dirty="0">
                <a:latin typeface="Arial"/>
                <a:cs typeface="Arial"/>
              </a:rPr>
              <a:t>Envio automático de newsletters;</a:t>
            </a:r>
            <a:endParaRPr lang="pt-BR" sz="8099" dirty="0">
              <a:cs typeface="Arial"/>
            </a:endParaRPr>
          </a:p>
          <a:p>
            <a:pPr marL="285115" indent="-285115" algn="just" defTabSz="1678181">
              <a:buFont typeface="Arial"/>
              <a:buChar char="•"/>
            </a:pPr>
            <a:r>
              <a:rPr lang="pt-BR" sz="2650" dirty="0">
                <a:latin typeface="Arial"/>
                <a:cs typeface="Arial"/>
              </a:rPr>
              <a:t>Melhorias de acessibilidade e performance, tornando o site mais inclusivo e eficiente.</a:t>
            </a:r>
            <a:endParaRPr lang="pt-BR" sz="8099" dirty="0">
              <a:cs typeface="Arial"/>
            </a:endParaRPr>
          </a:p>
          <a:p>
            <a:pPr algn="just" defTabSz="1678181"/>
            <a:r>
              <a:rPr lang="pt-BR" sz="2650" dirty="0">
                <a:latin typeface="Arial"/>
                <a:cs typeface="Arial"/>
              </a:rPr>
              <a:t>Essas evoluções transformariam o sistema em uma plataforma completa de engajamento social, fortalecendo a missão do Instituto Alma de promover o desenvolvimento humano e a solidariedade digital.</a:t>
            </a:r>
            <a:endParaRPr lang="pt-BR" sz="8099" dirty="0">
              <a:cs typeface="Arial"/>
            </a:endParaRPr>
          </a:p>
          <a:p>
            <a:pPr algn="just" defTabSz="1678181">
              <a:spcAft>
                <a:spcPts val="1200"/>
              </a:spcAft>
            </a:pPr>
            <a:endParaRPr lang="pt-BR" sz="2650">
              <a:cs typeface="Arial"/>
            </a:endParaRP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1730" y="10342607"/>
            <a:ext cx="12867400" cy="1569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181" eaLnBrk="1" hangingPunct="1"/>
            <a:r>
              <a:rPr lang="pt-BR" sz="5865" b="1">
                <a:ea typeface="ＭＳ Ｐゴシック" pitchFamily="34" charset="-128"/>
              </a:rPr>
              <a:t>Imagens e ferramentas do Projeto</a:t>
            </a:r>
          </a:p>
          <a:p>
            <a:pPr algn="just" defTabSz="1678181" eaLnBrk="1" hangingPunct="1">
              <a:spcAft>
                <a:spcPts val="1200"/>
              </a:spcAft>
            </a:pPr>
            <a:r>
              <a:rPr lang="pt-BR" sz="3733"/>
              <a:t> </a:t>
            </a:r>
            <a:r>
              <a:rPr lang="pt-BR" sz="2666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4" y="40351565"/>
            <a:ext cx="3095606" cy="3114954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2083" y="40378295"/>
            <a:ext cx="3095604" cy="3105249"/>
          </a:xfrm>
          <a:prstGeom prst="rect">
            <a:avLst/>
          </a:prstGeom>
        </p:spPr>
      </p:pic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C36539B3-03B4-9E15-C22B-94F5A2E54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2659" y="17939214"/>
            <a:ext cx="1745417" cy="916884"/>
          </a:xfrm>
          <a:prstGeom prst="rect">
            <a:avLst/>
          </a:prstGeom>
        </p:spPr>
      </p:pic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F265727C-35EA-9DFA-0973-7707DC71EA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3034" y="12657581"/>
            <a:ext cx="1574543" cy="1574723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004D8512-6DEA-0B0B-63E3-A7017472BD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442" y="12662057"/>
            <a:ext cx="1134627" cy="1553891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7428" y="14210550"/>
            <a:ext cx="1335727" cy="1335867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5954" y="17095091"/>
            <a:ext cx="1527919" cy="1146058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5044" y="19880615"/>
            <a:ext cx="1420907" cy="1420756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738" y="15186662"/>
            <a:ext cx="1922305" cy="2041192"/>
          </a:xfrm>
          <a:prstGeom prst="rect">
            <a:avLst/>
          </a:prstGeom>
        </p:spPr>
      </p:pic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1652BFF4-CD39-4D8B-CDB6-2EEBEA3ABE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8585" y="15403958"/>
            <a:ext cx="1322846" cy="132298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111522D-A3D2-9FA5-3C5E-3AB298D42D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808" y="12003176"/>
            <a:ext cx="11387048" cy="6387007"/>
          </a:xfrm>
          <a:prstGeom prst="rect">
            <a:avLst/>
          </a:prstGeom>
        </p:spPr>
      </p:pic>
      <p:pic>
        <p:nvPicPr>
          <p:cNvPr id="20" name="Imagem 19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219EAA7E-6824-1F4B-8348-6EAD71C9A9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5449" y="18932652"/>
            <a:ext cx="10716876" cy="6234378"/>
          </a:xfrm>
          <a:prstGeom prst="rect">
            <a:avLst/>
          </a:prstGeom>
        </p:spPr>
      </p:pic>
      <p:pic>
        <p:nvPicPr>
          <p:cNvPr id="21" name="Imagem 20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7681293-6E36-6CCE-7F76-131D026293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517" y="25649620"/>
            <a:ext cx="10607309" cy="6606389"/>
          </a:xfrm>
          <a:prstGeom prst="rect">
            <a:avLst/>
          </a:prstGeom>
        </p:spPr>
      </p:pic>
      <p:pic>
        <p:nvPicPr>
          <p:cNvPr id="24" name="Imagem 2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FA254A3-86EA-DB6F-63C3-3828F9D47CD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80526" y="27160254"/>
            <a:ext cx="8580392" cy="5113465"/>
          </a:xfrm>
          <a:prstGeom prst="rect">
            <a:avLst/>
          </a:prstGeom>
        </p:spPr>
      </p:pic>
      <p:pic>
        <p:nvPicPr>
          <p:cNvPr id="25" name="Imagem 2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2C6BE47-E564-3DAC-7850-67B940FB313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84047" y="22042359"/>
            <a:ext cx="8586328" cy="4960923"/>
          </a:xfrm>
          <a:prstGeom prst="rect">
            <a:avLst/>
          </a:prstGeom>
        </p:spPr>
      </p:pic>
      <p:pic>
        <p:nvPicPr>
          <p:cNvPr id="16" name="Imagem 15" descr="Ícone&#10;&#10;O conteúdo gerado por IA pode estar incorreto.">
            <a:extLst>
              <a:ext uri="{FF2B5EF4-FFF2-40B4-BE49-F238E27FC236}">
                <a16:creationId xmlns:a16="http://schemas.microsoft.com/office/drawing/2014/main" id="{94234EC0-2BB3-A616-ADA6-0F11B548E92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957036" y="17354800"/>
            <a:ext cx="2093665" cy="2093365"/>
          </a:xfrm>
          <a:prstGeom prst="rect">
            <a:avLst/>
          </a:prstGeom>
        </p:spPr>
      </p:pic>
      <p:pic>
        <p:nvPicPr>
          <p:cNvPr id="28" name="Imagem 2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550CD22-47EE-52C0-AB50-673258DB313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10062" y="12020584"/>
            <a:ext cx="9473711" cy="9373887"/>
          </a:xfrm>
          <a:prstGeom prst="rect">
            <a:avLst/>
          </a:prstGeom>
        </p:spPr>
      </p:pic>
      <p:pic>
        <p:nvPicPr>
          <p:cNvPr id="26" name="Imagem 2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023085A-8D7F-ECB4-F184-F682867DA1C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378491" y="27152861"/>
            <a:ext cx="7886836" cy="5117902"/>
          </a:xfrm>
          <a:prstGeom prst="rect">
            <a:avLst/>
          </a:prstGeom>
        </p:spPr>
      </p:pic>
      <p:pic>
        <p:nvPicPr>
          <p:cNvPr id="27" name="Imagem 26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52EEA835-BF5C-5F64-F670-837823790C2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378514" y="22049509"/>
            <a:ext cx="7886810" cy="494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1d2798d9-1030-4cc5-be7b-200f9e628651"/>
    <ds:schemaRef ds:uri="8ca2a57e-8138-4b57-956a-eb6e2c7049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1d2798d9-1030-4cc5-be7b-200f9e628651"/>
    <ds:schemaRef ds:uri="8ca2a57e-8138-4b57-956a-eb6e2c7049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Application>Microsoft Office PowerPoint</Application>
  <PresentationFormat>Personalizar</PresentationFormat>
  <Slides>1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Design padrão</vt:lpstr>
      <vt:lpstr>AlmaTech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revision>140</cp:revision>
  <dcterms:created xsi:type="dcterms:W3CDTF">2006-11-04T15:46:42Z</dcterms:created>
  <dcterms:modified xsi:type="dcterms:W3CDTF">2025-11-07T00:20:27Z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